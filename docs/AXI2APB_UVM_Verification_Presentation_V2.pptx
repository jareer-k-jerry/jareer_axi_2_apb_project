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62895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ASIC DESIGN VERIFICATION PROJECT</a:t>
            </a:r>
          </a:p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Verification of AXI4-to-APB Bridge</a:t>
            </a:r>
          </a:p>
          <a:p>
            <a:pPr>
              <a:defRPr sz="1800">
                <a:solidFill>
                  <a:srgbClr val="475569"/>
                </a:solidFill>
                <a:latin typeface="Arial"/>
              </a:defRPr>
            </a:pPr>
            <a:r>
              <a:t>Complete UVM 1.2 VIP Environment, Virtual Sequences &amp; Coverage Closure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2377440" cy="1737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DUT PROTOCOL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Bridge translates 5 AXI4 channels into simple 2-phase APB transfers.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389120"/>
            <a:ext cx="2377440" cy="173736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45720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  <a:latin typeface="Arial"/>
              </a:defRPr>
            </a:pPr>
            <a:r>
              <a:t>VERIFICATION IP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Active AXI Master VIP + Reactive APB Slave VIP with wait states.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2377440" cy="173736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COVERAGE SCORE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100% AXI Covergroup</a:t>
            </a:r>
            <a:br/>
            <a:r>
              <a:t>95.8% APB Covergroup</a:t>
            </a:r>
            <a:br/>
            <a:r>
              <a:t>0 Scoreboard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389120"/>
            <a:ext cx="2377440" cy="1737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4572000"/>
            <a:ext cx="2011680" cy="10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rPr dirty="0"/>
              <a:t>PRESENTER</a:t>
            </a:r>
          </a:p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rPr dirty="0"/>
              <a:t>Jareer</a:t>
            </a:r>
            <a:r>
              <a:rPr lang="en-US" dirty="0"/>
              <a:t> Khan</a:t>
            </a:r>
            <a:br>
              <a:rPr dirty="0"/>
            </a:br>
            <a:r>
              <a:rPr dirty="0"/>
              <a:t>Design Verification</a:t>
            </a:r>
            <a:br>
              <a:rPr dirty="0"/>
            </a:br>
            <a:r>
              <a:rPr dirty="0"/>
              <a:t>NECOP</a:t>
            </a:r>
            <a:br>
              <a:rPr dirty="0"/>
            </a:br>
            <a:r>
              <a:rPr dirty="0"/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DUT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DUT Architecture &amp; The 5 Internal FIFOs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What Does Our DUT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Protocol Converter: </a:t>
            </a:r>
            <a:r>
              <a:rPr sz="1400" b="0">
                <a:solidFill>
                  <a:srgbClr val="0F172A"/>
                </a:solidFill>
                <a:latin typeface="Arial"/>
              </a:rPr>
              <a:t>Translates fast 5-channel AXI4 transactions into simple 2-phase APB transfers.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Single-Beat Transfers: </a:t>
            </a:r>
            <a:r>
              <a:rPr sz="1400" b="0">
                <a:solidFill>
                  <a:srgbClr val="0F172A"/>
                </a:solidFill>
                <a:latin typeface="Arial"/>
              </a:rPr>
              <a:t>Takes 32-bit AXI data and performs one APB read or write per request.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Elastic Buffering: </a:t>
            </a:r>
            <a:r>
              <a:rPr sz="1400" b="0">
                <a:solidFill>
                  <a:srgbClr val="0F172A"/>
                </a:solidFill>
                <a:latin typeface="Arial"/>
              </a:rPr>
              <a:t>Uses 5 internal FIFOs so the fast AXI master never stalls while waiting for slow APB devices.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Single Clock Domain: </a:t>
            </a:r>
            <a:r>
              <a:rPr sz="1400" b="0">
                <a:solidFill>
                  <a:srgbClr val="0F172A"/>
                </a:solidFill>
                <a:latin typeface="Arial"/>
              </a:rPr>
              <a:t>Both AXI and APB interfaces run on the same clock (ACLK) with active-low reset (ARESETn).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212080" cy="91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Visual Block Diagram of DUT FIFOs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103120"/>
            <a:ext cx="4663440" cy="6858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AW FIFO (87-bit)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Stores Write Address, ID, User bits, &amp;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926080"/>
            <a:ext cx="4663440" cy="68580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01752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891B2"/>
                </a:solidFill>
                <a:latin typeface="Arial"/>
              </a:defRPr>
            </a:pPr>
            <a:r>
              <a:t>W FIFO (41-bit)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Stores Write Data (32b), Strobes, &amp; Last bit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749040"/>
            <a:ext cx="4663440" cy="6858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84048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B FIFO (18-bit)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Stores Write Response (BRESP) &amp; Transaction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572000"/>
            <a:ext cx="4663440" cy="6858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66344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Arial"/>
              </a:defRPr>
            </a:pPr>
            <a:r>
              <a:t>AR FIFO (87-bit)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Stores Read Address, ID, User bits, &amp; 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394960"/>
            <a:ext cx="4663440" cy="6858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548640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Arial"/>
              </a:defRPr>
            </a:pPr>
            <a:r>
              <a:t>R FIFO (44-bit)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Stores Read Data (32b), Response, &amp; ID to Master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DUT FSM &amp;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DUT Control FSM &amp; Protocol Handshaking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5-State Control FSM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1. IDLE State: </a:t>
            </a:r>
            <a:r>
              <a:rPr sz="1400" b="0">
                <a:solidFill>
                  <a:srgbClr val="0F172A"/>
                </a:solidFill>
                <a:latin typeface="Arial"/>
              </a:rPr>
              <a:t>Watches FIFO status. Read has PRIORITY over Write! If both arrive, Read is served first.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2. DONE_SINGLE_RD: </a:t>
            </a:r>
            <a:r>
              <a:rPr sz="1400" b="0">
                <a:solidFill>
                  <a:srgbClr val="0F172A"/>
                </a:solidFill>
                <a:latin typeface="Arial"/>
              </a:rPr>
              <a:t>Starts APB Read. Asserts PSEL=1, PENABLE=1 (Access phase).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3. WAIT_R_PREADY: </a:t>
            </a:r>
            <a:r>
              <a:rPr sz="1400" b="0">
                <a:solidFill>
                  <a:srgbClr val="0F172A"/>
                </a:solidFill>
                <a:latin typeface="Arial"/>
              </a:rPr>
              <a:t>Waits for APB PREADY=1. Once ready, captures PRDATA into R FIFO.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4. WAIT_W_PREADY: </a:t>
            </a:r>
            <a:r>
              <a:rPr sz="1400" b="0">
                <a:solidFill>
                  <a:srgbClr val="0F172A"/>
                </a:solidFill>
                <a:latin typeface="Arial"/>
              </a:rPr>
              <a:t>Starts APB Write. Holds address and data stable until PREADY=1.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5. SEND_B_RESP: </a:t>
            </a:r>
            <a:r>
              <a:rPr sz="1400" b="0">
                <a:solidFill>
                  <a:srgbClr val="0F172A"/>
                </a:solidFill>
                <a:latin typeface="Arial"/>
              </a:rPr>
              <a:t>Returns BVALID=1 to AXI master to complete write, then goes to IDLE.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212080" cy="914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Fixed &amp; Hardwired Signals in RTL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• PSEL is Fixed to 1'b1: </a:t>
            </a:r>
            <a:r>
              <a:rPr sz="1400" b="0">
                <a:solidFill>
                  <a:srgbClr val="0F172A"/>
                </a:solidFill>
                <a:latin typeface="Arial"/>
              </a:rPr>
              <a:t>In axi2apb.sv, PSEL is permanently tied high. The bridge is made for a single APB slave.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• BRESP &amp; RRESP Default OKAY: </a:t>
            </a:r>
            <a:r>
              <a:rPr sz="1400" b="0">
                <a:solidFill>
                  <a:srgbClr val="0F172A"/>
                </a:solidFill>
                <a:latin typeface="Arial"/>
              </a:rPr>
              <a:t>Bridge sends 2'b00 (OKAY). PSLVERR port is present in RTL, and bridge completes without hang.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• Unused AXI Signals: </a:t>
            </a:r>
            <a:r>
              <a:rPr sz="1400" b="0">
                <a:solidFill>
                  <a:srgbClr val="0F172A"/>
                </a:solidFill>
                <a:latin typeface="Arial"/>
              </a:rPr>
              <a:t>AWLEN, AWBURST, AWCACHE, AWQOS are stored in FIFO but ignored by the single-beat APB FSM.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• test_en_i Tied to 1'b0: </a:t>
            </a:r>
            <a:r>
              <a:rPr sz="1400" b="0">
                <a:solidFill>
                  <a:srgbClr val="0F172A"/>
                </a:solidFill>
                <a:latin typeface="Arial"/>
              </a:rPr>
              <a:t>The DFT scan test pin is tied low in normal operational mode.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TESTBENCH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UVM Verification Environment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926080" cy="292608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AXI MASTER VIP</a:t>
            </a:r>
            <a:br/>
            <a:r>
              <a:t>(Active Agent)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AXI Master Sequencer</a:t>
            </a:r>
            <a:br/>
            <a:r>
              <a:t>• AXI Master Driver (5 Channels)</a:t>
            </a:r>
            <a:br/>
            <a:r>
              <a:t>• AXI Master Monitor</a:t>
            </a:r>
            <a:br/>
            <a:r>
              <a:t>• Drives AW, W, AR, B, 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49039" y="2834640"/>
            <a:ext cx="731520" cy="36576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3017520" cy="29260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DUT (axi2apb.sv)</a:t>
            </a:r>
            <a:br/>
            <a:r>
              <a:t>AXI4-to-APB Bridge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5 Synchronous FIFOs</a:t>
            </a:r>
            <a:br/>
            <a:r>
              <a:t>• 5-State Control FSM</a:t>
            </a:r>
            <a:br/>
            <a:r>
              <a:t>• Read-Priority Arbitration</a:t>
            </a:r>
            <a:br/>
            <a:r>
              <a:t>• AXI4 to APB3/4 Conversion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80960" y="2834640"/>
            <a:ext cx="731520" cy="365760"/>
          </a:xfrm>
          <a:prstGeom prst="rightArrow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03920" y="1645920"/>
            <a:ext cx="2926080" cy="292608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17373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APB SLAVE VIP</a:t>
            </a:r>
            <a:br/>
            <a:r>
              <a:t>(Reactive Agent)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APB Reactive Sequencer</a:t>
            </a:r>
            <a:br/>
            <a:r>
              <a:t>• APB Reactive Driver</a:t>
            </a:r>
            <a:br/>
            <a:r>
              <a:t>• APB Slave Monitor</a:t>
            </a:r>
            <a:br/>
            <a:r>
              <a:t>• Wait States &amp; Error Injection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51206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846320"/>
            <a:ext cx="5120640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Virtual Sequencer (axi2apb_virtual_sequencer)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6235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rPr dirty="0"/>
              <a:t>Coordinates parallel stimulus between AXI Master and APB Slave. Tests only call </a:t>
            </a:r>
            <a:r>
              <a:rPr dirty="0" err="1"/>
              <a:t>vseq.start</a:t>
            </a:r>
            <a:r>
              <a:rPr dirty="0"/>
              <a:t>() — no messy </a:t>
            </a:r>
            <a:r>
              <a:rPr dirty="0" err="1"/>
              <a:t>fork..join</a:t>
            </a:r>
            <a:r>
              <a:rPr dirty="0"/>
              <a:t> in tests!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846320"/>
            <a:ext cx="52120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846320"/>
            <a:ext cx="521208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7481" y="5098026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rPr dirty="0"/>
              <a:t>Scoreboard &amp; Coverage Collector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9842" y="54178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Monitors sample both buses and send transactions to Scoreboard. Scoreboard verifies data matches 100%. Coverage checks all bins.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VERIFICATION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AXI Master VIP (Active Agent)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2962656" cy="548640"/>
          </a:xfrm>
          <a:prstGeom prst="roundRect">
            <a:avLst/>
          </a:prstGeom>
          <a:solidFill>
            <a:srgbClr val="E0F2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Driver 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287121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Drives all 5 independent AXI channels (AW, W, B, AR, R).</a:t>
            </a:r>
            <a:br/>
            <a:br/>
            <a:r>
              <a:t>• Supports out-of-order data arrival (Data before Address, Address before Data).</a:t>
            </a:r>
            <a:br/>
            <a:br/>
            <a:r>
              <a:t>• Includes delay knobs (bready_delay, rready_delay) to test backpressure.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08576" y="1737360"/>
            <a:ext cx="2962656" cy="548640"/>
          </a:xfrm>
          <a:prstGeom prst="roundRect">
            <a:avLst/>
          </a:prstGeom>
          <a:solidFill>
            <a:srgbClr val="F3E8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Sequencer &amp;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560320"/>
            <a:ext cx="287121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Sequencer passes randomized axi_seq_item objects down to the driver.</a:t>
            </a:r>
            <a:br/>
            <a:br/>
            <a:r>
              <a:t>• Generates 32-bit addresses, 32-bit data, 16-bit IDs, and 10-bit User sidebands.</a:t>
            </a:r>
            <a:br/>
            <a:br/>
            <a:r>
              <a:t>• Fully constrained randomization.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02752" y="1737360"/>
            <a:ext cx="2962656" cy="54864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Monitor Component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560320"/>
            <a:ext cx="287121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Passively samples interface pins at posedge ACLK.</a:t>
            </a:r>
            <a:br/>
            <a:br/>
            <a:r>
              <a:t>• Reconstructs complete write and read transactions.</a:t>
            </a:r>
            <a:br/>
            <a:br/>
            <a:r>
              <a:t>• Uses uvm_analysis_port to broadcast items to Scoreboard and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VERIFICATION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APB Slave VIP (Reactive Agent)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2962656" cy="54864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Reactive Nature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287121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Unlike the Master, the Slave driver does NOT start transfers on its own.</a:t>
            </a:r>
            <a:br/>
            <a:br/>
            <a:r>
              <a:t>• It waits passively until the DUT asserts PSEL=1 and PENABLE=1.</a:t>
            </a:r>
            <a:br/>
            <a:br/>
            <a:r>
              <a:t>• Operates just like real peripheral hardware on an SoC bus.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08576" y="1737360"/>
            <a:ext cx="2962656" cy="548640"/>
          </a:xfrm>
          <a:prstGeom prst="roundRect">
            <a:avLst/>
          </a:prstGeom>
          <a:solidFill>
            <a:srgbClr val="E0F2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Wait-State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560320"/>
            <a:ext cx="287121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The driver controls the PREADY signal directly.</a:t>
            </a:r>
            <a:br/>
            <a:br/>
            <a:r>
              <a:t>• Can hold PREADY=0 for 0, 1, 2, 3, or more cycles (wait_cycles knob).</a:t>
            </a:r>
            <a:br/>
            <a:br/>
            <a:r>
              <a:t>• Verifies that the bridge holds address and data stable while waiting.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02752" y="1737360"/>
            <a:ext cx="2962656" cy="54864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Error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560320"/>
            <a:ext cx="287121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Includes an inject_error knob to assert PSLVERR=1 during the access phase.</a:t>
            </a:r>
            <a:br/>
            <a:br/>
            <a:r>
              <a:t>• Tests how the bridge handles downstream slave errors without hanging.</a:t>
            </a:r>
            <a:br/>
            <a:br/>
            <a:r>
              <a:t>• Internal memory array stores and returns data accurately.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 SUITE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Complete UVM Test Suite (13 Test Cases)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48463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Sanity &amp; Basic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axi2apb_smoke_test (Reset release check)</a:t>
            </a:r>
            <a:br/>
            <a:r>
              <a:t>• axi2apb_single_write_test (Single write transfer)</a:t>
            </a:r>
            <a:br/>
            <a:r>
              <a:t>• axi2apb_single_read_test (Single read transfer)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554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76695" y="1691640"/>
            <a:ext cx="4846320" cy="411480"/>
          </a:xfrm>
          <a:prstGeom prst="roundRect">
            <a:avLst/>
          </a:prstGeom>
          <a:solidFill>
            <a:srgbClr val="ECFEFF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91B2"/>
                </a:solidFill>
              </a:defRPr>
            </a:pPr>
            <a:r>
              <a:t>Timing &amp; Delays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2194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axi2apb_wait_state_test (3 &amp; 4 APB wait cycles)</a:t>
            </a:r>
            <a:br/>
            <a:r>
              <a:t>• axi2apb_bready_delay_test (Master delays BREADY)</a:t>
            </a:r>
            <a:br/>
            <a:r>
              <a:t>• axi2apb_rready_delay_test (Master delays RREADY)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251960"/>
            <a:ext cx="4846320" cy="411480"/>
          </a:xfrm>
          <a:prstGeom prst="roundRect">
            <a:avLst/>
          </a:prstGeom>
          <a:solidFill>
            <a:srgbClr val="F3E8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Throughput &amp; Pipelining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axi2apb_b2b_writes_test (4 back-to-back writes)</a:t>
            </a:r>
            <a:br/>
            <a:r>
              <a:t>• axi2apb_b2b_reads_test (4 back-to-back reads)</a:t>
            </a:r>
            <a:br/>
            <a:r>
              <a:t>• axi2apb_mixed_traffic_test (Interleaved R &amp; 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76695" y="4251960"/>
            <a:ext cx="4846320" cy="41148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Corner Cases &amp; Stress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415" y="47548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axi2apb_simultaneous_rw_test (R &amp; W at same edge)</a:t>
            </a:r>
            <a:br/>
            <a:r>
              <a:t>• axi2apb_diff_ids_users_test (16-bit IDs &amp; User bits)</a:t>
            </a:r>
            <a:br/>
            <a:r>
              <a:t>• axi2apb_pslverr_test (Slave error verification)</a:t>
            </a:r>
            <a:br/>
            <a:r>
              <a:t>• axi2apb_randomized_tests (20+ random transfers)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 DEEP-DIVE: WRITE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Key Test 1: Single Write Verification (Explanation)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How the Single Write Test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1498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Test Objective: </a:t>
            </a:r>
            <a:r>
              <a:rPr sz="1400" b="0">
                <a:solidFill>
                  <a:srgbClr val="0F172A"/>
                </a:solidFill>
                <a:latin typeface="Arial"/>
              </a:rPr>
              <a:t>Verify that an AXI4 write request is correctly translated to an APB write transfer and acknowledged with a clean OKAY response.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Step 1 (AXI Address &amp; Data): </a:t>
            </a:r>
            <a:r>
              <a:rPr sz="1400" b="0">
                <a:solidFill>
                  <a:srgbClr val="0F172A"/>
                </a:solidFill>
                <a:latin typeface="Arial"/>
              </a:rPr>
              <a:t>AXI Master drives AWADDR=0x0000_1004, WDATA=0x1234_5678, ID=0x00A1, and asserts AWVALID and WVALID.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Step 2 (DUT FIFO Buffering): </a:t>
            </a:r>
            <a:r>
              <a:rPr sz="1400" b="0">
                <a:solidFill>
                  <a:srgbClr val="0F172A"/>
                </a:solidFill>
                <a:latin typeface="Arial"/>
              </a:rPr>
              <a:t>The bridge captures the address into the AW FIFO and write data into the W FIFO.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Step 3 (APB Transfer): </a:t>
            </a:r>
            <a:r>
              <a:rPr sz="1400" b="0">
                <a:solidFill>
                  <a:srgbClr val="0F172A"/>
                </a:solidFill>
                <a:latin typeface="Arial"/>
              </a:rPr>
              <a:t>The bridge enters WAIT_W_PREADY state, drives PSEL=1, PENABLE=1, PWRITE=1, and puts data onto PWDATA.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Step 4 (Completion &amp; Checking): </a:t>
            </a:r>
            <a:r>
              <a:rPr sz="1400" b="0">
                <a:solidFill>
                  <a:srgbClr val="0F172A"/>
                </a:solidFill>
                <a:latin typeface="Arial"/>
              </a:rPr>
              <a:t>APB slave asserts PREADY=1. Bridge sends BVALID=1 and BRESP=OKAY. Scoreboard confirms 1 matched write with 0 errors!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 DEEP-DIVE: WRITE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Key Test 1: Single Write Verification (Code Snippet)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6873" y="1298448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083564"/>
            <a:ext cx="10728655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6472" y="1385316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rPr dirty="0"/>
              <a:t>Virtual Sequence Code: axi2apb_single_write_vseq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79" y="1715482"/>
            <a:ext cx="101498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3A8A"/>
                </a:solidFill>
                <a:latin typeface="Consolas"/>
              </a:defRPr>
            </a:pPr>
            <a:r>
              <a:rPr sz="1200" dirty="0"/>
              <a:t>// File: axi2apb_virtual_sequences.sv</a:t>
            </a:r>
            <a:br>
              <a:rPr sz="1200" dirty="0"/>
            </a:br>
            <a:r>
              <a:rPr sz="1200" dirty="0"/>
              <a:t>virtual task body();</a:t>
            </a:r>
            <a:br>
              <a:rPr sz="1200" dirty="0"/>
            </a:br>
            <a:r>
              <a:rPr sz="1200" dirty="0"/>
              <a:t>  </a:t>
            </a:r>
            <a:r>
              <a:rPr sz="1200" dirty="0" err="1"/>
              <a:t>axi_single_write_seq</a:t>
            </a:r>
            <a:r>
              <a:rPr sz="1200" dirty="0"/>
              <a:t>          </a:t>
            </a:r>
            <a:r>
              <a:rPr sz="1200" dirty="0" err="1"/>
              <a:t>axi_seq</a:t>
            </a:r>
            <a:r>
              <a:rPr sz="1200" dirty="0"/>
              <a:t>;</a:t>
            </a:r>
            <a:br>
              <a:rPr sz="1200" dirty="0"/>
            </a:br>
            <a:r>
              <a:rPr sz="1200" dirty="0"/>
              <a:t>  </a:t>
            </a:r>
            <a:r>
              <a:rPr sz="1200" dirty="0" err="1"/>
              <a:t>apb_slave_single_response_seq</a:t>
            </a:r>
            <a:r>
              <a:rPr sz="1200" dirty="0"/>
              <a:t> </a:t>
            </a:r>
            <a:r>
              <a:rPr sz="1200" dirty="0" err="1"/>
              <a:t>apb_seq</a:t>
            </a:r>
            <a:r>
              <a:rPr sz="1200" dirty="0"/>
              <a:t>;</a:t>
            </a:r>
            <a:br>
              <a:rPr sz="1200" dirty="0"/>
            </a:br>
            <a:br>
              <a:rPr sz="1200" dirty="0"/>
            </a:br>
            <a:r>
              <a:rPr sz="1200" dirty="0"/>
              <a:t>  fork</a:t>
            </a:r>
            <a:br>
              <a:rPr sz="1200" dirty="0"/>
            </a:br>
            <a:r>
              <a:rPr sz="1200" dirty="0"/>
              <a:t>    // Thread 1: APB Reactive Slave prepares to accept write</a:t>
            </a:r>
            <a:br>
              <a:rPr sz="1200" dirty="0"/>
            </a:br>
            <a:r>
              <a:rPr sz="1200" dirty="0"/>
              <a:t>    begin : </a:t>
            </a:r>
            <a:r>
              <a:rPr sz="1200" dirty="0" err="1"/>
              <a:t>apb_thread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apb_seq</a:t>
            </a:r>
            <a:r>
              <a:rPr sz="1200" dirty="0"/>
              <a:t> = </a:t>
            </a:r>
            <a:r>
              <a:rPr sz="1200" dirty="0" err="1"/>
              <a:t>apb_slave_single_response_seq</a:t>
            </a:r>
            <a:r>
              <a:rPr sz="1200" dirty="0"/>
              <a:t>::</a:t>
            </a:r>
            <a:r>
              <a:rPr sz="1200" dirty="0" err="1"/>
              <a:t>type_id</a:t>
            </a:r>
            <a:r>
              <a:rPr sz="1200" dirty="0"/>
              <a:t>::create("</a:t>
            </a:r>
            <a:r>
              <a:rPr sz="1200" dirty="0" err="1"/>
              <a:t>apb_seq</a:t>
            </a:r>
            <a:r>
              <a:rPr sz="1200" dirty="0"/>
              <a:t>");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apb_seq.wait_cycles</a:t>
            </a:r>
            <a:r>
              <a:rPr sz="1200" dirty="0"/>
              <a:t>  = </a:t>
            </a:r>
            <a:r>
              <a:rPr sz="1200" dirty="0" err="1"/>
              <a:t>wait_cycles</a:t>
            </a:r>
            <a:r>
              <a:rPr sz="1200" dirty="0"/>
              <a:t>; // Configurable wait states (0 cycles)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apb_seq.inject_error</a:t>
            </a:r>
            <a:r>
              <a:rPr sz="1200" dirty="0"/>
              <a:t> = 1'b0;        // No slave error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apb_seq.start</a:t>
            </a:r>
            <a:r>
              <a:rPr sz="1200" dirty="0"/>
              <a:t>(</a:t>
            </a:r>
            <a:r>
              <a:rPr sz="1200" dirty="0" err="1"/>
              <a:t>p_sequencer.apb_seqr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  end : </a:t>
            </a:r>
            <a:r>
              <a:rPr sz="1200" dirty="0" err="1"/>
              <a:t>apb_thread</a:t>
            </a:r>
            <a:br>
              <a:rPr sz="1200" dirty="0"/>
            </a:br>
            <a:br>
              <a:rPr sz="1200" dirty="0"/>
            </a:br>
            <a:r>
              <a:rPr sz="1200" dirty="0"/>
              <a:t>    // Thread 2: AXI Master drives Write Address and Data</a:t>
            </a:r>
            <a:br>
              <a:rPr sz="1200" dirty="0"/>
            </a:br>
            <a:r>
              <a:rPr sz="1200" dirty="0"/>
              <a:t>    begin : </a:t>
            </a:r>
            <a:r>
              <a:rPr sz="1200" dirty="0" err="1"/>
              <a:t>axi_thread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axi_seq</a:t>
            </a:r>
            <a:r>
              <a:rPr sz="1200" dirty="0"/>
              <a:t> = </a:t>
            </a:r>
            <a:r>
              <a:rPr sz="1200" dirty="0" err="1"/>
              <a:t>axi_single_write_seq</a:t>
            </a:r>
            <a:r>
              <a:rPr sz="1200" dirty="0"/>
              <a:t>::</a:t>
            </a:r>
            <a:r>
              <a:rPr sz="1200" dirty="0" err="1"/>
              <a:t>type_id</a:t>
            </a:r>
            <a:r>
              <a:rPr sz="1200" dirty="0"/>
              <a:t>::create("</a:t>
            </a:r>
            <a:r>
              <a:rPr sz="1200" dirty="0" err="1"/>
              <a:t>axi_seq</a:t>
            </a:r>
            <a:r>
              <a:rPr sz="1200" dirty="0"/>
              <a:t>");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axi_seq.target_addr</a:t>
            </a:r>
            <a:r>
              <a:rPr sz="1200" dirty="0"/>
              <a:t>  = </a:t>
            </a:r>
            <a:r>
              <a:rPr sz="1200" dirty="0" err="1"/>
              <a:t>target_addr</a:t>
            </a:r>
            <a:r>
              <a:rPr sz="1200" dirty="0"/>
              <a:t>; // 32'h0000_1004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axi_seq.write_data</a:t>
            </a:r>
            <a:r>
              <a:rPr sz="1200" dirty="0"/>
              <a:t>   = </a:t>
            </a:r>
            <a:r>
              <a:rPr sz="1200" dirty="0" err="1"/>
              <a:t>write_data</a:t>
            </a:r>
            <a:r>
              <a:rPr sz="1200" dirty="0"/>
              <a:t>;  // 32'h1234_5678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axi_seq.trans_id</a:t>
            </a:r>
            <a:r>
              <a:rPr sz="1200" dirty="0"/>
              <a:t>     = </a:t>
            </a:r>
            <a:r>
              <a:rPr sz="1200" dirty="0" err="1"/>
              <a:t>trans_id</a:t>
            </a:r>
            <a:r>
              <a:rPr sz="1200" dirty="0"/>
              <a:t>;    // 16'h00A1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axi_seq.start</a:t>
            </a:r>
            <a:r>
              <a:rPr sz="1200" dirty="0"/>
              <a:t>(</a:t>
            </a:r>
            <a:r>
              <a:rPr sz="1200" dirty="0" err="1"/>
              <a:t>p_sequencer.axi_seqr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  end : </a:t>
            </a:r>
            <a:r>
              <a:rPr sz="1200" dirty="0" err="1"/>
              <a:t>axi_thread</a:t>
            </a:r>
            <a:br>
              <a:rPr sz="1200" dirty="0"/>
            </a:br>
            <a:r>
              <a:rPr sz="1200" dirty="0"/>
              <a:t>  join</a:t>
            </a:r>
            <a:br>
              <a:rPr sz="1200" dirty="0"/>
            </a:br>
            <a:r>
              <a:rPr sz="1200" dirty="0" err="1"/>
              <a:t>endtask</a:t>
            </a:r>
            <a:r>
              <a:rPr sz="1200" dirty="0"/>
              <a:t> : body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 DEEP-DIVE: READ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Key Test 2: Single Read Verification (Explanation)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91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How the Single Read Test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1498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Test Objective: </a:t>
            </a:r>
            <a:r>
              <a:rPr sz="1400" b="0">
                <a:solidFill>
                  <a:srgbClr val="0F172A"/>
                </a:solidFill>
                <a:latin typeface="Arial"/>
              </a:rPr>
              <a:t>Verify that an AXI4 read request fetches data from the APB slave and returns it via RDATA with correct ID and OKAY response.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Step 1 (AXI Read Request): </a:t>
            </a:r>
            <a:r>
              <a:rPr sz="1400" b="0">
                <a:solidFill>
                  <a:srgbClr val="0F172A"/>
                </a:solidFill>
                <a:latin typeface="Arial"/>
              </a:rPr>
              <a:t>AXI Master drives ARADDR=0x0000_2008, ARID=0x00B2, and asserts ARVALID.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Step 2 (DUT FSM Transition): </a:t>
            </a:r>
            <a:r>
              <a:rPr sz="1400" b="0">
                <a:solidFill>
                  <a:srgbClr val="0F172A"/>
                </a:solidFill>
                <a:latin typeface="Arial"/>
              </a:rPr>
              <a:t>DUT FSM moves from IDLE to DONE_SINGLE_RD and asserts APB PSEL=1, PENABLE=1, PWRITE=0 (Read transfer).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Step 3 (Slave Provides Data): </a:t>
            </a:r>
            <a:r>
              <a:rPr sz="1400" b="0">
                <a:solidFill>
                  <a:srgbClr val="0F172A"/>
                </a:solidFill>
                <a:latin typeface="Arial"/>
              </a:rPr>
              <a:t>APB reactive slave drives PRDATA=0xFEED_FACE and asserts PREADY=1.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Step 4 (Read Data Returned): </a:t>
            </a:r>
            <a:r>
              <a:rPr sz="1400" b="0">
                <a:solidFill>
                  <a:srgbClr val="0F172A"/>
                </a:solidFill>
                <a:latin typeface="Arial"/>
              </a:rPr>
              <a:t>DUT enters WAIT_R_PREADY, pushes data into R FIFO, and returns RDATA=0xFEED_FACE with RVALID=1 to master. Scoreboard verifies exact match!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 DEEP-DIVE: READ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Key Test 2: Single Read Verification (Code Snippet)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39"/>
            <a:ext cx="10500055" cy="514942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91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8545" y="1727684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rPr dirty="0"/>
              <a:t>Virtual Sequence Code: axi2apb_single_read_vseq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14984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3A8A"/>
                </a:solidFill>
                <a:latin typeface="Consolas"/>
              </a:defRPr>
            </a:pPr>
            <a:r>
              <a:rPr sz="1200" dirty="0"/>
              <a:t>// File: axi2apb_virtual_sequences.sv</a:t>
            </a:r>
            <a:br>
              <a:rPr sz="1200" dirty="0"/>
            </a:br>
            <a:r>
              <a:rPr sz="1200" dirty="0"/>
              <a:t>virtual task body();</a:t>
            </a:r>
            <a:br>
              <a:rPr sz="1200" dirty="0"/>
            </a:br>
            <a:r>
              <a:rPr sz="1200" dirty="0"/>
              <a:t>  </a:t>
            </a:r>
            <a:r>
              <a:rPr sz="1200" dirty="0" err="1"/>
              <a:t>axi_single_read_seq</a:t>
            </a:r>
            <a:r>
              <a:rPr sz="1200" dirty="0"/>
              <a:t>           </a:t>
            </a:r>
            <a:r>
              <a:rPr sz="1200" dirty="0" err="1"/>
              <a:t>axi_seq</a:t>
            </a:r>
            <a:r>
              <a:rPr sz="1200" dirty="0"/>
              <a:t>;</a:t>
            </a:r>
            <a:br>
              <a:rPr sz="1200" dirty="0"/>
            </a:br>
            <a:r>
              <a:rPr sz="1200" dirty="0"/>
              <a:t>  </a:t>
            </a:r>
            <a:r>
              <a:rPr sz="1200" dirty="0" err="1"/>
              <a:t>apb_slave_single_response_seq</a:t>
            </a:r>
            <a:r>
              <a:rPr sz="1200" dirty="0"/>
              <a:t> </a:t>
            </a:r>
            <a:r>
              <a:rPr sz="1200" dirty="0" err="1"/>
              <a:t>apb_seq</a:t>
            </a:r>
            <a:r>
              <a:rPr sz="1200" dirty="0"/>
              <a:t>;</a:t>
            </a:r>
            <a:br>
              <a:rPr sz="1200" dirty="0"/>
            </a:br>
            <a:br>
              <a:rPr sz="1200" dirty="0"/>
            </a:br>
            <a:r>
              <a:rPr sz="1200" dirty="0"/>
              <a:t>  fork</a:t>
            </a:r>
            <a:br>
              <a:rPr sz="1200" dirty="0"/>
            </a:br>
            <a:r>
              <a:rPr sz="1200" dirty="0"/>
              <a:t>    // Thread 1: APB Reactive Slave provides read data</a:t>
            </a:r>
            <a:br>
              <a:rPr sz="1200" dirty="0"/>
            </a:br>
            <a:r>
              <a:rPr sz="1200" dirty="0"/>
              <a:t>    begin : </a:t>
            </a:r>
            <a:r>
              <a:rPr sz="1200" dirty="0" err="1"/>
              <a:t>apb_thread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apb_seq</a:t>
            </a:r>
            <a:r>
              <a:rPr sz="1200" dirty="0"/>
              <a:t> = </a:t>
            </a:r>
            <a:r>
              <a:rPr sz="1200" dirty="0" err="1"/>
              <a:t>apb_slave_single_response_seq</a:t>
            </a:r>
            <a:r>
              <a:rPr sz="1200" dirty="0"/>
              <a:t>::</a:t>
            </a:r>
            <a:r>
              <a:rPr sz="1200" dirty="0" err="1"/>
              <a:t>type_id</a:t>
            </a:r>
            <a:r>
              <a:rPr sz="1200" dirty="0"/>
              <a:t>::create("</a:t>
            </a:r>
            <a:r>
              <a:rPr sz="1200" dirty="0" err="1"/>
              <a:t>apb_seq</a:t>
            </a:r>
            <a:r>
              <a:rPr sz="1200" dirty="0"/>
              <a:t>");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apb_seq.wait_cycles</a:t>
            </a:r>
            <a:r>
              <a:rPr sz="1200" dirty="0"/>
              <a:t>       = 0;                // Zero wait state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apb_seq.default_read_data</a:t>
            </a:r>
            <a:r>
              <a:rPr sz="1200" dirty="0"/>
              <a:t> = </a:t>
            </a:r>
            <a:r>
              <a:rPr sz="1200" dirty="0" err="1"/>
              <a:t>default_read_data</a:t>
            </a:r>
            <a:r>
              <a:rPr sz="1200" dirty="0"/>
              <a:t>;// 32'hFEED_FACE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apb_seq.start</a:t>
            </a:r>
            <a:r>
              <a:rPr sz="1200" dirty="0"/>
              <a:t>(</a:t>
            </a:r>
            <a:r>
              <a:rPr sz="1200" dirty="0" err="1"/>
              <a:t>p_sequencer.apb_seqr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  end : </a:t>
            </a:r>
            <a:r>
              <a:rPr sz="1200" dirty="0" err="1"/>
              <a:t>apb_thread</a:t>
            </a:r>
            <a:br>
              <a:rPr sz="1200" dirty="0"/>
            </a:br>
            <a:br>
              <a:rPr sz="1200" dirty="0"/>
            </a:br>
            <a:r>
              <a:rPr sz="1200" dirty="0"/>
              <a:t>    // Thread 2: AXI Master requests read transfer</a:t>
            </a:r>
            <a:br>
              <a:rPr sz="1200" dirty="0"/>
            </a:br>
            <a:r>
              <a:rPr sz="1200" dirty="0"/>
              <a:t>    begin : </a:t>
            </a:r>
            <a:r>
              <a:rPr sz="1200" dirty="0" err="1"/>
              <a:t>axi_thread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axi_seq</a:t>
            </a:r>
            <a:r>
              <a:rPr sz="1200" dirty="0"/>
              <a:t> = </a:t>
            </a:r>
            <a:r>
              <a:rPr sz="1200" dirty="0" err="1"/>
              <a:t>axi_single_read_seq</a:t>
            </a:r>
            <a:r>
              <a:rPr sz="1200" dirty="0"/>
              <a:t>::</a:t>
            </a:r>
            <a:r>
              <a:rPr sz="1200" dirty="0" err="1"/>
              <a:t>type_id</a:t>
            </a:r>
            <a:r>
              <a:rPr sz="1200" dirty="0"/>
              <a:t>::create("</a:t>
            </a:r>
            <a:r>
              <a:rPr sz="1200" dirty="0" err="1"/>
              <a:t>axi_seq</a:t>
            </a:r>
            <a:r>
              <a:rPr sz="1200" dirty="0"/>
              <a:t>");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axi_seq.target_addr</a:t>
            </a:r>
            <a:r>
              <a:rPr sz="1200" dirty="0"/>
              <a:t>  = </a:t>
            </a:r>
            <a:r>
              <a:rPr sz="1200" dirty="0" err="1"/>
              <a:t>target_addr</a:t>
            </a:r>
            <a:r>
              <a:rPr sz="1200" dirty="0"/>
              <a:t>; // 32'h0000_2008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axi_seq.trans_id</a:t>
            </a:r>
            <a:r>
              <a:rPr sz="1200" dirty="0"/>
              <a:t>     = </a:t>
            </a:r>
            <a:r>
              <a:rPr sz="1200" dirty="0" err="1"/>
              <a:t>trans_id</a:t>
            </a:r>
            <a:r>
              <a:rPr sz="1200" dirty="0"/>
              <a:t>;    // 16'h00B2</a:t>
            </a:r>
            <a:br>
              <a:rPr sz="1200" dirty="0"/>
            </a:br>
            <a:r>
              <a:rPr sz="1200" dirty="0"/>
              <a:t>      </a:t>
            </a:r>
            <a:r>
              <a:rPr sz="1200" dirty="0" err="1"/>
              <a:t>axi_seq.start</a:t>
            </a:r>
            <a:r>
              <a:rPr sz="1200" dirty="0"/>
              <a:t>(</a:t>
            </a:r>
            <a:r>
              <a:rPr sz="1200" dirty="0" err="1"/>
              <a:t>p_sequencer.axi_seqr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  end : </a:t>
            </a:r>
            <a:r>
              <a:rPr sz="1200" dirty="0" err="1"/>
              <a:t>axi_thread</a:t>
            </a:r>
            <a:br>
              <a:rPr sz="1200" dirty="0"/>
            </a:br>
            <a:r>
              <a:rPr sz="1200" dirty="0"/>
              <a:t>  join</a:t>
            </a:r>
            <a:br>
              <a:rPr sz="1200" dirty="0"/>
            </a:br>
            <a:r>
              <a:rPr sz="1200" dirty="0" err="1"/>
              <a:t>endtask</a:t>
            </a:r>
            <a:r>
              <a:rPr sz="1200" dirty="0"/>
              <a:t> : body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 DEEP-DIVE: BACKPRESSURE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Key Test 3: APB Slave Wait States (Explanation)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914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0967" y="169164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rPr dirty="0"/>
              <a:t>How APB Wait-State Backpressure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1498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Test Objective: </a:t>
            </a:r>
            <a:r>
              <a:rPr sz="1400" b="0">
                <a:solidFill>
                  <a:srgbClr val="0F172A"/>
                </a:solidFill>
                <a:latin typeface="Arial"/>
              </a:rPr>
              <a:t>Verify that the bridge does NOT drop data or deadlock when an APB peripheral is slow and holds PREADY=0 for multiple clock cycles.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Phase 1 (Write with 3 Wait Cycles): </a:t>
            </a:r>
            <a:r>
              <a:rPr sz="1400" b="0">
                <a:solidFill>
                  <a:srgbClr val="0F172A"/>
                </a:solidFill>
                <a:latin typeface="Arial"/>
              </a:rPr>
              <a:t>Master initiates write. APB slave holds PREADY=0 for 3 full clock cycles. The DUT FSM stays in WAIT_W_PREADY and holds PADDR and PWDATA completely stable.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Phase 2 (Read with 4 Wait Cycles): </a:t>
            </a:r>
            <a:r>
              <a:rPr sz="1400" b="0">
                <a:solidFill>
                  <a:srgbClr val="0F172A"/>
                </a:solidFill>
                <a:latin typeface="Arial"/>
              </a:rPr>
              <a:t>Master initiates read. APB slave holds PREADY=0 for 4 clock cycles. The DUT FSM stays in WAIT_R_PREADY without timeout.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Handshake Completion: </a:t>
            </a:r>
            <a:r>
              <a:rPr sz="1400" b="0">
                <a:solidFill>
                  <a:srgbClr val="0F172A"/>
                </a:solidFill>
                <a:latin typeface="Arial"/>
              </a:rPr>
              <a:t>When PREADY=1 is asserted, the bridge finishes the transfer cleanly without data corruption.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Scoreboard Result: </a:t>
            </a:r>
            <a:r>
              <a:rPr sz="1400" b="0">
                <a:solidFill>
                  <a:srgbClr val="0F172A"/>
                </a:solidFill>
                <a:latin typeface="Arial"/>
              </a:rPr>
              <a:t>Scoreboard verifies both wait-state transactions match with 0 errors!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 DEEP-DIVE: BACKPRESSURE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Key Test 3: APB Slave Wait States (Code Snippet)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4145" y="1239774"/>
            <a:ext cx="10728655" cy="572338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19" y="1083564"/>
            <a:ext cx="10728655" cy="914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321308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rPr dirty="0"/>
              <a:t>Virtual Sequence Code: axi2apb_wait_state_vseq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0177"/>
            <a:ext cx="101498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3A8A"/>
                </a:solidFill>
                <a:latin typeface="Consolas"/>
              </a:defRPr>
            </a:pPr>
            <a:r>
              <a:rPr sz="1200" dirty="0"/>
              <a:t>// File: axi2apb_virtual_sequences.sv</a:t>
            </a:r>
            <a:br>
              <a:rPr sz="1200" dirty="0"/>
            </a:br>
            <a:r>
              <a:rPr sz="1200" dirty="0"/>
              <a:t>// Phase 1: Write transaction with 3 APB wait cycles</a:t>
            </a:r>
            <a:br>
              <a:rPr sz="1200" dirty="0"/>
            </a:br>
            <a:r>
              <a:rPr sz="1200" dirty="0"/>
              <a:t>fork</a:t>
            </a:r>
            <a:br>
              <a:rPr sz="1200" dirty="0"/>
            </a:br>
            <a:r>
              <a:rPr sz="1200" dirty="0"/>
              <a:t>  begin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apb_rsp_seq</a:t>
            </a:r>
            <a:r>
              <a:rPr sz="1200" dirty="0"/>
              <a:t> = </a:t>
            </a:r>
            <a:r>
              <a:rPr sz="1200" dirty="0" err="1"/>
              <a:t>apb_slave_single_response_seq</a:t>
            </a:r>
            <a:r>
              <a:rPr sz="1200" dirty="0"/>
              <a:t>::</a:t>
            </a:r>
            <a:r>
              <a:rPr sz="1200" dirty="0" err="1"/>
              <a:t>type_id</a:t>
            </a:r>
            <a:r>
              <a:rPr sz="1200" dirty="0"/>
              <a:t>::create("</a:t>
            </a:r>
            <a:r>
              <a:rPr sz="1200" dirty="0" err="1"/>
              <a:t>apb_wr_wait</a:t>
            </a:r>
            <a:r>
              <a:rPr sz="1200" dirty="0"/>
              <a:t>");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apb_rsp_seq.wait_cycles</a:t>
            </a:r>
            <a:r>
              <a:rPr sz="1200" dirty="0"/>
              <a:t>  = 3; // Hold PREADY low for 3 cycles!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apb_rsp_seq.start</a:t>
            </a:r>
            <a:r>
              <a:rPr sz="1200" dirty="0"/>
              <a:t>(</a:t>
            </a:r>
            <a:r>
              <a:rPr sz="1200" dirty="0" err="1"/>
              <a:t>p_sequencer.apb_seqr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end</a:t>
            </a:r>
            <a:br>
              <a:rPr sz="1200" dirty="0"/>
            </a:br>
            <a:r>
              <a:rPr sz="1200" dirty="0"/>
              <a:t>  begin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axi_wr_seq</a:t>
            </a:r>
            <a:r>
              <a:rPr sz="1200" dirty="0"/>
              <a:t> = </a:t>
            </a:r>
            <a:r>
              <a:rPr sz="1200" dirty="0" err="1"/>
              <a:t>axi_single_write_seq</a:t>
            </a:r>
            <a:r>
              <a:rPr sz="1200" dirty="0"/>
              <a:t>::</a:t>
            </a:r>
            <a:r>
              <a:rPr sz="1200" dirty="0" err="1"/>
              <a:t>type_id</a:t>
            </a:r>
            <a:r>
              <a:rPr sz="1200" dirty="0"/>
              <a:t>::create("</a:t>
            </a:r>
            <a:r>
              <a:rPr sz="1200" dirty="0" err="1"/>
              <a:t>axi_wr_seq</a:t>
            </a:r>
            <a:r>
              <a:rPr sz="1200" dirty="0"/>
              <a:t>");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axi_wr_seq.target_addr</a:t>
            </a:r>
            <a:r>
              <a:rPr sz="1200" dirty="0"/>
              <a:t> = 32'h0000_3000;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axi_wr_seq.write_data</a:t>
            </a:r>
            <a:r>
              <a:rPr sz="1200" dirty="0"/>
              <a:t>  = 32'hAAAA_5555;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axi_wr_seq.start</a:t>
            </a:r>
            <a:r>
              <a:rPr sz="1200" dirty="0"/>
              <a:t>(</a:t>
            </a:r>
            <a:r>
              <a:rPr sz="1200" dirty="0" err="1"/>
              <a:t>p_sequencer.axi_seqr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end</a:t>
            </a:r>
            <a:br>
              <a:rPr sz="1200" dirty="0"/>
            </a:br>
            <a:r>
              <a:rPr sz="1200" dirty="0"/>
              <a:t>join</a:t>
            </a:r>
            <a:br>
              <a:rPr sz="1200" dirty="0"/>
            </a:br>
            <a:br>
              <a:rPr sz="1200" dirty="0"/>
            </a:br>
            <a:r>
              <a:rPr sz="1200" dirty="0"/>
              <a:t>// Phase 2: Read transaction with 4 APB wait cycles</a:t>
            </a:r>
            <a:br>
              <a:rPr sz="1200" dirty="0"/>
            </a:br>
            <a:r>
              <a:rPr sz="1200" dirty="0"/>
              <a:t>fork</a:t>
            </a:r>
            <a:br>
              <a:rPr sz="1200" dirty="0"/>
            </a:br>
            <a:r>
              <a:rPr sz="1200" dirty="0"/>
              <a:t>  begin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apb_rsp_seq</a:t>
            </a:r>
            <a:r>
              <a:rPr sz="1200" dirty="0"/>
              <a:t> = </a:t>
            </a:r>
            <a:r>
              <a:rPr sz="1200" dirty="0" err="1"/>
              <a:t>apb_slave_single_response_seq</a:t>
            </a:r>
            <a:r>
              <a:rPr sz="1200" dirty="0"/>
              <a:t>::</a:t>
            </a:r>
            <a:r>
              <a:rPr sz="1200" dirty="0" err="1"/>
              <a:t>type_id</a:t>
            </a:r>
            <a:r>
              <a:rPr sz="1200" dirty="0"/>
              <a:t>::create("</a:t>
            </a:r>
            <a:r>
              <a:rPr sz="1200" dirty="0" err="1"/>
              <a:t>apb_rd_wait</a:t>
            </a:r>
            <a:r>
              <a:rPr sz="1200" dirty="0"/>
              <a:t>");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apb_rsp_seq.wait_cycles</a:t>
            </a:r>
            <a:r>
              <a:rPr sz="1200" dirty="0"/>
              <a:t> = 4; // Hold PREADY low for 4 cycles!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apb_rsp_seq.start</a:t>
            </a:r>
            <a:r>
              <a:rPr sz="1200" dirty="0"/>
              <a:t>(</a:t>
            </a:r>
            <a:r>
              <a:rPr sz="1200" dirty="0" err="1"/>
              <a:t>p_sequencer.apb_seqr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end</a:t>
            </a:r>
            <a:br>
              <a:rPr sz="1200" dirty="0"/>
            </a:br>
            <a:r>
              <a:rPr sz="1200" dirty="0"/>
              <a:t>  begin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axi_rd_seq</a:t>
            </a:r>
            <a:r>
              <a:rPr sz="1200" dirty="0"/>
              <a:t> = </a:t>
            </a:r>
            <a:r>
              <a:rPr sz="1200" dirty="0" err="1"/>
              <a:t>axi_single_read_seq</a:t>
            </a:r>
            <a:r>
              <a:rPr sz="1200" dirty="0"/>
              <a:t>::</a:t>
            </a:r>
            <a:r>
              <a:rPr sz="1200" dirty="0" err="1"/>
              <a:t>type_id</a:t>
            </a:r>
            <a:r>
              <a:rPr sz="1200" dirty="0"/>
              <a:t>::create("</a:t>
            </a:r>
            <a:r>
              <a:rPr sz="1200" dirty="0" err="1"/>
              <a:t>axi_rd_seq</a:t>
            </a:r>
            <a:r>
              <a:rPr sz="1200" dirty="0"/>
              <a:t>");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axi_rd_seq.start</a:t>
            </a:r>
            <a:r>
              <a:rPr sz="1200" dirty="0"/>
              <a:t>(</a:t>
            </a:r>
            <a:r>
              <a:rPr sz="1200" dirty="0" err="1"/>
              <a:t>p_sequencer.axi_seqr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end</a:t>
            </a:r>
            <a:br>
              <a:rPr sz="1200" dirty="0"/>
            </a:br>
            <a:r>
              <a:rPr sz="1200" dirty="0"/>
              <a:t>join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 DEEP-DIVE: ARBITRATION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Key Test 4: Simultaneous Read/Write Priority (Explanation)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How Simultaneous Read/Write Arbitration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1498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The Protocol Challenge: </a:t>
            </a:r>
            <a:r>
              <a:rPr sz="1400" b="0">
                <a:solidFill>
                  <a:srgbClr val="0F172A"/>
                </a:solidFill>
                <a:latin typeface="Arial"/>
              </a:rPr>
              <a:t>In AXI4, read and write are completely separate channels. What happens if ARVALID (Read) and AWVALID (Write) arrive at the exact same clock edge?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DUT Arbitration Rule: </a:t>
            </a:r>
            <a:r>
              <a:rPr sz="1400" b="0">
                <a:solidFill>
                  <a:srgbClr val="0F172A"/>
                </a:solidFill>
                <a:latin typeface="Arial"/>
              </a:rPr>
              <a:t>In axi2apb.sv, the FSM checks:
    if (ARVALID) begin ... // Read path
    end else if (AWVALID) begin ... // Write path
This proves the design enforces fixed READ-PRIORITY arbitration.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Verified Behavior: </a:t>
            </a:r>
            <a:r>
              <a:rPr sz="1400" b="0">
                <a:solidFill>
                  <a:srgbClr val="0F172A"/>
                </a:solidFill>
                <a:latin typeface="Arial"/>
              </a:rPr>
              <a:t>1. Read transfer is executed on the APB bus FIRST.
2. Write transfer remains held safely in the FIFO and executes IMMEDIATELY NEXT.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Scoreboard Sign-Off: </a:t>
            </a:r>
            <a:r>
              <a:rPr sz="1400" b="0">
                <a:solidFill>
                  <a:srgbClr val="0F172A"/>
                </a:solidFill>
                <a:latin typeface="Arial"/>
              </a:rPr>
              <a:t>Scoreboard verifies both the Read and Write match 100% with 0 dropped beats!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TEST DEEP-DIVE: ARBITRATION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Key Test 4: Simultaneous Read/Write Priority (Code Snippet)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914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6472" y="1764792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rPr dirty="0"/>
              <a:t>Pin-Level Parallel Drive Code: axi2apb_simultaneous_rw_test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3A8A"/>
                </a:solidFill>
                <a:latin typeface="Consolas"/>
              </a:defRPr>
            </a:pPr>
            <a:r>
              <a:rPr sz="1200" dirty="0"/>
              <a:t>// File: axi2apb_simultaneous_rw_test.sv</a:t>
            </a:r>
            <a:br>
              <a:rPr sz="1200" dirty="0"/>
            </a:br>
            <a:r>
              <a:rPr sz="1200" dirty="0"/>
              <a:t>fork</a:t>
            </a:r>
            <a:br>
              <a:rPr sz="1200" dirty="0"/>
            </a:br>
            <a:r>
              <a:rPr sz="1200" dirty="0"/>
              <a:t>  // Thread 0: APB Slave reacts to 2 transactions (Read first, Write second)</a:t>
            </a:r>
            <a:br>
              <a:rPr sz="1200" dirty="0"/>
            </a:br>
            <a:r>
              <a:rPr sz="1200" dirty="0"/>
              <a:t>  begin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apb_rsp_seq</a:t>
            </a:r>
            <a:r>
              <a:rPr sz="1200" dirty="0"/>
              <a:t> = </a:t>
            </a:r>
            <a:r>
              <a:rPr sz="1200" dirty="0" err="1"/>
              <a:t>apb_slave_reactive_seq</a:t>
            </a:r>
            <a:r>
              <a:rPr sz="1200" dirty="0"/>
              <a:t>::</a:t>
            </a:r>
            <a:r>
              <a:rPr sz="1200" dirty="0" err="1"/>
              <a:t>type_id</a:t>
            </a:r>
            <a:r>
              <a:rPr sz="1200" dirty="0"/>
              <a:t>::create("</a:t>
            </a:r>
            <a:r>
              <a:rPr sz="1200" dirty="0" err="1"/>
              <a:t>apb_rsp_seq</a:t>
            </a:r>
            <a:r>
              <a:rPr sz="1200" dirty="0"/>
              <a:t>");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apb_rsp_seq.num_trans</a:t>
            </a:r>
            <a:r>
              <a:rPr sz="1200" dirty="0"/>
              <a:t> = 2; // Respond to Read then Write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apb_rsp_seq.start</a:t>
            </a:r>
            <a:r>
              <a:rPr sz="1200" dirty="0"/>
              <a:t>(</a:t>
            </a:r>
            <a:r>
              <a:rPr sz="1200" dirty="0" err="1"/>
              <a:t>apb_agent.sequencer</a:t>
            </a:r>
            <a:r>
              <a:rPr sz="1200" dirty="0"/>
              <a:t>);</a:t>
            </a:r>
            <a:br>
              <a:rPr sz="1200" dirty="0"/>
            </a:br>
            <a:r>
              <a:rPr sz="1200" dirty="0"/>
              <a:t>  end</a:t>
            </a:r>
            <a:br>
              <a:rPr sz="1200" dirty="0"/>
            </a:br>
            <a:br>
              <a:rPr sz="1200" dirty="0"/>
            </a:br>
            <a:r>
              <a:rPr sz="1200" dirty="0"/>
              <a:t>  // Thread 1 &amp; 2: Pin-level simultaneous assertion at SAME clock edge</a:t>
            </a:r>
            <a:br>
              <a:rPr sz="1200" dirty="0"/>
            </a:br>
            <a:r>
              <a:rPr sz="1200" dirty="0"/>
              <a:t>  begin</a:t>
            </a:r>
            <a:br>
              <a:rPr sz="1200" dirty="0"/>
            </a:br>
            <a:r>
              <a:rPr sz="1200" dirty="0"/>
              <a:t>    @(axi_vif.master_cb);</a:t>
            </a:r>
            <a:br>
              <a:rPr sz="1200" dirty="0"/>
            </a:br>
            <a:r>
              <a:rPr sz="1200" dirty="0"/>
              <a:t>    // Assert Read Address Channel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axi_vif.master_cb.araddr</a:t>
            </a:r>
            <a:r>
              <a:rPr sz="1200" dirty="0"/>
              <a:t>  &lt;= 32'h0000_5000;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axi_vif.master_cb.arvalid</a:t>
            </a:r>
            <a:r>
              <a:rPr sz="1200" dirty="0"/>
              <a:t> &lt;= 1'b1;</a:t>
            </a:r>
            <a:br>
              <a:rPr sz="1200" dirty="0"/>
            </a:br>
            <a:br>
              <a:rPr sz="1200" dirty="0"/>
            </a:br>
            <a:r>
              <a:rPr sz="1200" dirty="0"/>
              <a:t>    // Assert Write Address &amp; Data Channels at the EXACT SAME CLOCK EDGE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axi_vif.master_cb.awaddr</a:t>
            </a:r>
            <a:r>
              <a:rPr sz="1200" dirty="0"/>
              <a:t>  &lt;= 32'h0000_6000;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axi_vif.master_cb.awvalid</a:t>
            </a:r>
            <a:r>
              <a:rPr sz="1200" dirty="0"/>
              <a:t> &lt;= 1'b1;</a:t>
            </a:r>
            <a:br>
              <a:rPr sz="1200" dirty="0"/>
            </a:br>
            <a:r>
              <a:rPr sz="1200" dirty="0"/>
              <a:t>    </a:t>
            </a:r>
            <a:r>
              <a:rPr sz="1200" dirty="0" err="1"/>
              <a:t>axi_vif.master_cb.wvalid</a:t>
            </a:r>
            <a:r>
              <a:rPr sz="1200" dirty="0"/>
              <a:t>  &lt;= 1'b1;</a:t>
            </a:r>
            <a:br>
              <a:rPr sz="1200" dirty="0"/>
            </a:br>
            <a:r>
              <a:rPr sz="1200" dirty="0"/>
              <a:t>  end</a:t>
            </a:r>
            <a:br>
              <a:rPr sz="1200" dirty="0"/>
            </a:br>
            <a:r>
              <a:rPr sz="1200" dirty="0"/>
              <a:t>join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COVERAGE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Functional Coverage Bins &amp; Verification 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AXI Interface Coverage (axi_cg) —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Address Bins (100%): </a:t>
            </a:r>
            <a:r>
              <a:rPr sz="1400" b="0">
                <a:solidFill>
                  <a:srgbClr val="0F172A"/>
                </a:solidFill>
                <a:latin typeface="Arial"/>
              </a:rPr>
              <a:t>Low range [0:0x3FFF], Mid range [0x4000:0x7FFF], High range [0x8000:0xFFFF].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Data Bins (100%): </a:t>
            </a:r>
            <a:r>
              <a:rPr sz="1400" b="0">
                <a:solidFill>
                  <a:srgbClr val="0F172A"/>
                </a:solidFill>
                <a:latin typeface="Arial"/>
              </a:rPr>
              <a:t>All zeros (0x0), All ones (0xFFFFFFFF), Alternating bits (0x5555AAAA), and random data.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Transaction IDs (100%): </a:t>
            </a:r>
            <a:r>
              <a:rPr sz="1400" b="0">
                <a:solidFill>
                  <a:srgbClr val="0F172A"/>
                </a:solidFill>
                <a:latin typeface="Arial"/>
              </a:rPr>
              <a:t>Full 16-bit ID bins (id_0, low, mid, high).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User Sidebands (100%): </a:t>
            </a:r>
            <a:r>
              <a:rPr sz="1400" b="0">
                <a:solidFill>
                  <a:srgbClr val="0F172A"/>
                </a:solidFill>
                <a:latin typeface="Arial"/>
              </a:rPr>
              <a:t>10-bit User sideband bins (zero, low, high).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21208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APB Interface Coverage (apb_cg) — 95.8%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Transfer Direction: </a:t>
            </a:r>
            <a:r>
              <a:rPr sz="1400" b="0">
                <a:solidFill>
                  <a:srgbClr val="0F172A"/>
                </a:solidFill>
                <a:latin typeface="Arial"/>
              </a:rPr>
              <a:t>100% hit for both WRITE (PWRITE=1) and READ (PWRITE=0).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Wait State Bins: </a:t>
            </a:r>
            <a:r>
              <a:rPr sz="1400" b="0">
                <a:solidFill>
                  <a:srgbClr val="0F172A"/>
                </a:solidFill>
                <a:latin typeface="Arial"/>
              </a:rPr>
              <a:t>Zero wait (0 cycles), Short wait (1-3 cycles), and Long wait (4+ cycles).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Error Bins: </a:t>
            </a:r>
            <a:r>
              <a:rPr sz="1400" b="0">
                <a:solidFill>
                  <a:srgbClr val="0F172A"/>
                </a:solidFill>
                <a:latin typeface="Arial"/>
              </a:rPr>
              <a:t>NO_ERROR (PSLVERR=0) and SLVERR (PSLVERR=1).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Cross Coverage: </a:t>
            </a:r>
            <a:r>
              <a:rPr sz="1400" b="0">
                <a:solidFill>
                  <a:srgbClr val="0F172A"/>
                </a:solidFill>
                <a:latin typeface="Arial"/>
              </a:rPr>
              <a:t>direction × address, direction × wait_states, direction × error.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D6C7B-698F-26C1-5113-FE7581C8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5A8885-4937-16A5-B6AD-12269B142D6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E8A158-2BE5-EAC0-E2F6-C358A99E47DE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EDADC-6642-1E4D-22D8-5594035CA21B}"/>
              </a:ext>
            </a:extLst>
          </p:cNvPr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COVERAGE CLOSURE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5CFE4-5FD1-930E-2378-1887B88D233D}"/>
              </a:ext>
            </a:extLst>
          </p:cNvPr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Functional Coverage Bins &amp; Verification Closure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664F12-2281-3000-FF7B-148BCBECC15B}"/>
              </a:ext>
            </a:extLst>
          </p:cNvPr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DEF1F-EB71-6233-FF31-F04C55315F20}"/>
              </a:ext>
            </a:extLst>
          </p:cNvPr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70655-EBBC-C4FC-13EC-921A27DCB11F}"/>
              </a:ext>
            </a:extLst>
          </p:cNvPr>
          <p:cNvSpPr/>
          <p:nvPr/>
        </p:nvSpPr>
        <p:spPr>
          <a:xfrm>
            <a:off x="6217920" y="1463040"/>
            <a:ext cx="521208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C938F0-48AD-9D81-4B19-40F969A79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392" y="1764792"/>
            <a:ext cx="6508054" cy="409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0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METRICS &amp;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Code &amp; FSM Coverage + Engineering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Coverage Results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Core Line Coverage: 95.3% </a:t>
            </a:r>
            <a:r>
              <a:rPr sz="1400" b="0">
                <a:solidFill>
                  <a:srgbClr val="0F172A"/>
                </a:solidFill>
                <a:latin typeface="Arial"/>
              </a:rPr>
              <a:t>Over 95% of active bridge RTL statements executed. Uncovered lines are defensive traps.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FSM State Coverage: 80% </a:t>
            </a:r>
            <a:r>
              <a:rPr sz="1400" b="0">
                <a:solidFill>
                  <a:srgbClr val="0F172A"/>
                </a:solidFill>
                <a:latin typeface="Arial"/>
              </a:rPr>
              <a:t>All active functional operational states reached: IDLE, DONE_SINGLE_RD, WAIT_W_PREADY, WAIT_R_PREADY, SEND_B_RESP.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• Zero Scoreboard Errors: </a:t>
            </a:r>
            <a:r>
              <a:rPr sz="1400" b="0">
                <a:solidFill>
                  <a:srgbClr val="0F172A"/>
                </a:solidFill>
                <a:latin typeface="Arial"/>
              </a:rPr>
              <a:t>Every single transaction matched between AXI master and APB slave.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212080" cy="914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Arial"/>
              </a:defRPr>
            </a:pPr>
            <a:r>
              <a:t>Defense for Teacher's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• 1. Tied Pins Cannot Toggle: </a:t>
            </a:r>
            <a:r>
              <a:rPr sz="1400" b="0">
                <a:solidFill>
                  <a:srgbClr val="0F172A"/>
                </a:solidFill>
                <a:latin typeface="Arial"/>
              </a:rPr>
              <a:t>test_en_i DFT pin is tied to 0. PSEL is tied to 1'b1. They cannot toggle by design!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• 2. Unused AXI Fields: </a:t>
            </a:r>
            <a:r>
              <a:rPr sz="1400" b="0">
                <a:solidFill>
                  <a:srgbClr val="0F172A"/>
                </a:solidFill>
                <a:latin typeface="Arial"/>
              </a:rPr>
              <a:t>AWLEN, AWBURST, AWQOS are stored in FIFO by design, but the single-beat 32-bit APB FSM ignores them.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• 3. FIFO Overflow Traps: </a:t>
            </a:r>
            <a:r>
              <a:rPr sz="1400" b="0">
                <a:solidFill>
                  <a:srgbClr val="0F172A"/>
                </a:solidFill>
                <a:latin typeface="Arial"/>
              </a:rPr>
              <a:t>Safety overflow error branches cannot trigger under compliant AXI master flow control.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Sign-Off Conclusion: </a:t>
            </a:r>
            <a:r>
              <a:rPr sz="1400" b="0">
                <a:solidFill>
                  <a:srgbClr val="0F172A"/>
                </a:solidFill>
                <a:latin typeface="Arial"/>
              </a:rPr>
              <a:t>100% of all reachable operational hardware modes are completely verified!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Summary &amp; Verification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2841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2962656" cy="502920"/>
          </a:xfrm>
          <a:prstGeom prst="roundRect">
            <a:avLst/>
          </a:prstGeom>
          <a:solidFill>
            <a:srgbClr val="E0F2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1. VIP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8712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Standard UVM 1.2 Multi-Agent Testbench</a:t>
            </a:r>
            <a:br/>
            <a:br/>
            <a:r>
              <a:t>• Active AXI Master VIP + Reactive APB Slave VIP</a:t>
            </a:r>
            <a:br/>
            <a:br/>
            <a:r>
              <a:t>• Virtual Sequencer coordinates stimulus cleanly without fork..join in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554480"/>
            <a:ext cx="332841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08576" y="1737360"/>
            <a:ext cx="2962656" cy="50292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2. Complete Test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423160"/>
            <a:ext cx="28712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13 Comprehensive Test Cases</a:t>
            </a:r>
            <a:br/>
            <a:br/>
            <a:r>
              <a:t>• Verified Write, Read, Wait States, Simultaneous R/W, and Random tests</a:t>
            </a:r>
            <a:br/>
            <a:br/>
            <a:r>
              <a:t>• Zero Scoreboard errors across all simulation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54480"/>
            <a:ext cx="332841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02752" y="1737360"/>
            <a:ext cx="2962656" cy="502920"/>
          </a:xfrm>
          <a:prstGeom prst="roundRect">
            <a:avLst/>
          </a:prstGeom>
          <a:solidFill>
            <a:srgbClr val="F3E8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3. Coverage Closure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423160"/>
            <a:ext cx="28712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• 100% AXI Functional Coverage</a:t>
            </a:r>
            <a:br/>
            <a:br/>
            <a:r>
              <a:t>• 95.8% APB Functional Coverage</a:t>
            </a:r>
            <a:br/>
            <a:br/>
            <a:r>
              <a:t>• 95.3% Core RTL Line Coverage</a:t>
            </a:r>
            <a:br/>
            <a:br/>
            <a:r>
              <a:t>• Full engineering defense for hardwired signals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  <a:latin typeface="Arial"/>
              </a:defRPr>
            </a:pPr>
            <a:r>
              <a:t>THANK YOU! QUESTIONS &amp; DISCUSSION</a:t>
            </a:r>
          </a:p>
          <a:p>
            <a:pPr algn="ctr">
              <a:defRPr sz="1400">
                <a:solidFill>
                  <a:srgbClr val="475569"/>
                </a:solidFill>
                <a:latin typeface="Arial"/>
              </a:defRPr>
            </a:pPr>
            <a:r>
              <a:t>Open for Technical Questions on RTL Architecture, UVM Testbench &amp; Simulation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3579</Words>
  <Application>Microsoft Office PowerPoint</Application>
  <PresentationFormat>Widescreen</PresentationFormat>
  <Paragraphs>162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01-133222-029</cp:lastModifiedBy>
  <cp:revision>4</cp:revision>
  <dcterms:created xsi:type="dcterms:W3CDTF">2013-01-27T09:14:16Z</dcterms:created>
  <dcterms:modified xsi:type="dcterms:W3CDTF">2026-10-18T23:11:32Z</dcterms:modified>
  <cp:category/>
</cp:coreProperties>
</file>